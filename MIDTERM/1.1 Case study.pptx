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1936582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1310648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619558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D941C7C-7A82-424D-AE0A-5592FAE23283}" type="datetimeFigureOut">
              <a:rPr lang="en-US" smtClean="0"/>
              <a:t>6/25/2021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4002161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D941C7C-7A82-424D-AE0A-5592FAE23283}" type="datetimeFigureOut">
              <a:rPr lang="en-US" smtClean="0"/>
              <a:t>6/25/2021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776720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D941C7C-7A82-424D-AE0A-5592FAE23283}" type="datetimeFigureOut">
              <a:rPr lang="en-US" smtClean="0"/>
              <a:t>6/25/2021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3200960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1C7C-7A82-424D-AE0A-5592FAE23283}" type="datetimeFigureOut">
              <a:rPr lang="en-US" smtClean="0"/>
              <a:t>6/25/2021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3275998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D941C7C-7A82-424D-AE0A-5592FAE23283}" type="datetimeFigureOut">
              <a:rPr lang="en-US" smtClean="0"/>
              <a:t>6/25/2021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618605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D941C7C-7A82-424D-AE0A-5592FAE23283}" type="datetimeFigureOut">
              <a:rPr lang="en-US" smtClean="0"/>
              <a:t>6/25/2021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1232167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439127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62143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3724529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05853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5683257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33203356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D941C7C-7A82-424D-AE0A-5592FAE23283}" type="datetimeFigureOut">
              <a:rPr lang="en-US" smtClean="0"/>
              <a:t>6/25/2021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4DE77-E354-41F2-B10A-34F2DC4EFAE3}" type="slidenum">
              <a:rPr lang="en-US" smtClean="0"/>
              <a:t>‹#›</a:t>
            </a:fld>
            <a:endParaRPr lang="en-US"/>
          </a:p>
        </p:txBody>
      </p:sp>
    </p:spTree>
    <p:extLst>
      <p:ext uri="{BB962C8B-B14F-4D97-AF65-F5344CB8AC3E}">
        <p14:creationId xmlns:p14="http://schemas.microsoft.com/office/powerpoint/2010/main" val="1952593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941C7C-7A82-424D-AE0A-5592FAE23283}" type="datetimeFigureOut">
              <a:rPr lang="en-US" smtClean="0"/>
              <a:t>6/25/2021</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A94DE77-E354-41F2-B10A-34F2DC4EFAE3}" type="slidenum">
              <a:rPr lang="en-US" smtClean="0"/>
              <a:t>‹#›</a:t>
            </a:fld>
            <a:endParaRPr lang="en-US"/>
          </a:p>
        </p:txBody>
      </p:sp>
    </p:spTree>
    <p:extLst>
      <p:ext uri="{BB962C8B-B14F-4D97-AF65-F5344CB8AC3E}">
        <p14:creationId xmlns:p14="http://schemas.microsoft.com/office/powerpoint/2010/main" val="20655292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Case Study</a:t>
            </a:r>
            <a:endParaRPr lang="en-US" dirty="0"/>
          </a:p>
        </p:txBody>
      </p:sp>
      <p:sp>
        <p:nvSpPr>
          <p:cNvPr id="3" name="Subtitle 2"/>
          <p:cNvSpPr>
            <a:spLocks noGrp="1"/>
          </p:cNvSpPr>
          <p:nvPr>
            <p:ph type="subTitle" idx="1"/>
          </p:nvPr>
        </p:nvSpPr>
        <p:spPr/>
        <p:txBody>
          <a:bodyPr/>
          <a:lstStyle/>
          <a:p>
            <a:r>
              <a:rPr lang="en-US" dirty="0" smtClean="0"/>
              <a:t>Corporate Governance</a:t>
            </a:r>
            <a:endParaRPr lang="en-US" dirty="0"/>
          </a:p>
        </p:txBody>
      </p:sp>
    </p:spTree>
    <p:extLst>
      <p:ext uri="{BB962C8B-B14F-4D97-AF65-F5344CB8AC3E}">
        <p14:creationId xmlns:p14="http://schemas.microsoft.com/office/powerpoint/2010/main" val="126438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sp>
        <p:nvSpPr>
          <p:cNvPr id="3" name="Content Placeholder 2"/>
          <p:cNvSpPr>
            <a:spLocks noGrp="1"/>
          </p:cNvSpPr>
          <p:nvPr>
            <p:ph idx="1"/>
          </p:nvPr>
        </p:nvSpPr>
        <p:spPr/>
        <p:txBody>
          <a:bodyPr>
            <a:normAutofit fontScale="92500"/>
          </a:bodyPr>
          <a:lstStyle/>
          <a:p>
            <a:pPr marL="0" indent="0">
              <a:buNone/>
            </a:pPr>
            <a:r>
              <a:rPr lang="en-SG" sz="2400" dirty="0"/>
              <a:t>Dylan is a manager at a leading consumer electronics company. In his role, he must frequently interact with industry partners and customers. One day, Dylan met with a customer of one of his company’s custom products. The custom product was a special chip for an electronic appliance that was currently in its final stages of review before market release. During the meeting, the customer wanted to know the method of making the chip, a process which was not specified in the given datasheet. The client claimed this information was needed to ensure that the chip would function properly when it was integrated with electronic appliances.</a:t>
            </a:r>
            <a:endParaRPr lang="en-US" sz="2400" dirty="0"/>
          </a:p>
          <a:p>
            <a:pPr marL="0" indent="0">
              <a:buNone/>
            </a:pPr>
            <a:endParaRPr lang="en-US" dirty="0"/>
          </a:p>
        </p:txBody>
      </p:sp>
    </p:spTree>
    <p:extLst>
      <p:ext uri="{BB962C8B-B14F-4D97-AF65-F5344CB8AC3E}">
        <p14:creationId xmlns:p14="http://schemas.microsoft.com/office/powerpoint/2010/main" val="2815341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sp>
        <p:nvSpPr>
          <p:cNvPr id="3" name="Content Placeholder 2"/>
          <p:cNvSpPr>
            <a:spLocks noGrp="1"/>
          </p:cNvSpPr>
          <p:nvPr>
            <p:ph idx="1"/>
          </p:nvPr>
        </p:nvSpPr>
        <p:spPr/>
        <p:txBody>
          <a:bodyPr>
            <a:normAutofit/>
          </a:bodyPr>
          <a:lstStyle/>
          <a:p>
            <a:r>
              <a:rPr lang="en-SG" sz="2000" dirty="0"/>
              <a:t>At first, Dylan was uncertain. He wanted to give his customer more details if it was for the benefit of his client’s final product, but, at the same time, was concerned because the requested information was protected under his company’s non-disclosure agreement (NDA).</a:t>
            </a:r>
            <a:endParaRPr lang="en-US" sz="2000" dirty="0"/>
          </a:p>
          <a:p>
            <a:r>
              <a:rPr lang="en-SG" sz="2000" dirty="0"/>
              <a:t>Dylan decided to discuss the matter with his supervisor; however, Dylan’s manager was overseeing many projects and, knowing that Dylan was capable and experienced, entrusted him to take care of the situation. When he returned to work the next day, Dylan received an email from his customer. The message stated that, if the chip’s manufacturing methodology was not disclosed, the customer would cease further investments in the product.</a:t>
            </a:r>
            <a:endParaRPr lang="en-US" sz="2000" dirty="0"/>
          </a:p>
          <a:p>
            <a:pPr marL="0" indent="0">
              <a:buNone/>
            </a:pPr>
            <a:endParaRPr lang="en-US" dirty="0"/>
          </a:p>
        </p:txBody>
      </p:sp>
    </p:spTree>
    <p:extLst>
      <p:ext uri="{BB962C8B-B14F-4D97-AF65-F5344CB8AC3E}">
        <p14:creationId xmlns:p14="http://schemas.microsoft.com/office/powerpoint/2010/main" val="710133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sp>
        <p:nvSpPr>
          <p:cNvPr id="3" name="Content Placeholder 2"/>
          <p:cNvSpPr>
            <a:spLocks noGrp="1"/>
          </p:cNvSpPr>
          <p:nvPr>
            <p:ph idx="1"/>
          </p:nvPr>
        </p:nvSpPr>
        <p:spPr/>
        <p:txBody>
          <a:bodyPr>
            <a:normAutofit/>
          </a:bodyPr>
          <a:lstStyle/>
          <a:p>
            <a:r>
              <a:rPr lang="en-SG" dirty="0"/>
              <a:t>Shocked, Dylan believed that if the customer could not abide by the NDA, he should tell the contract should be broken off. However, doing so would mean losing a significant amount of profit they had intended on harvesting from selling the chip. On the other hand, sharing confidential information with his customer could cause negative consequences, especially if his company were to discover the legal breach.</a:t>
            </a:r>
            <a:endParaRPr lang="en-US" dirty="0"/>
          </a:p>
          <a:p>
            <a:r>
              <a:rPr lang="en-SG" dirty="0"/>
              <a:t>Although it is highly unlikely that the extra chip information would be used by Dylan’s client for malicious purposes, its disclosure could potentially affect his company’s reputation, lead to mistrust in the company and compromise Dylan’s position. </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0650135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00223"/>
          </a:xfrm>
        </p:spPr>
        <p:txBody>
          <a:bodyPr>
            <a:normAutofit fontScale="90000"/>
          </a:bodyPr>
          <a:lstStyle/>
          <a:p>
            <a:r>
              <a:rPr lang="en-SG" b="1" dirty="0"/>
              <a:t>What should Dylan do?</a:t>
            </a:r>
            <a:r>
              <a:rPr lang="en-US" dirty="0"/>
              <a:t/>
            </a:r>
            <a:br>
              <a:rPr lang="en-US" dirty="0"/>
            </a:br>
            <a:endParaRPr lang="en-US" dirty="0"/>
          </a:p>
        </p:txBody>
      </p:sp>
      <p:sp>
        <p:nvSpPr>
          <p:cNvPr id="3" name="Content Placeholder 2"/>
          <p:cNvSpPr>
            <a:spLocks noGrp="1"/>
          </p:cNvSpPr>
          <p:nvPr>
            <p:ph idx="1"/>
          </p:nvPr>
        </p:nvSpPr>
        <p:spPr>
          <a:xfrm>
            <a:off x="677334" y="1509823"/>
            <a:ext cx="8596668" cy="4531539"/>
          </a:xfrm>
        </p:spPr>
        <p:txBody>
          <a:bodyPr>
            <a:normAutofit/>
          </a:bodyPr>
          <a:lstStyle/>
          <a:p>
            <a:pPr marL="0" indent="0">
              <a:buNone/>
            </a:pPr>
            <a:endParaRPr lang="en-US" dirty="0"/>
          </a:p>
          <a:p>
            <a:pPr marL="0" indent="0">
              <a:buNone/>
            </a:pPr>
            <a:r>
              <a:rPr lang="en-SG" dirty="0"/>
              <a:t>Solution </a:t>
            </a:r>
            <a:r>
              <a:rPr lang="en-SG" dirty="0" smtClean="0"/>
              <a:t>hints: </a:t>
            </a:r>
            <a:endParaRPr lang="en-US" dirty="0"/>
          </a:p>
          <a:p>
            <a:pPr lvl="0"/>
            <a:r>
              <a:rPr lang="en-SG" dirty="0">
                <a:solidFill>
                  <a:schemeClr val="tx1"/>
                </a:solidFill>
              </a:rPr>
              <a:t>Don’t do something illogical or unethical</a:t>
            </a:r>
            <a:endParaRPr lang="en-US" dirty="0">
              <a:solidFill>
                <a:schemeClr val="tx1"/>
              </a:solidFill>
            </a:endParaRPr>
          </a:p>
          <a:p>
            <a:pPr lvl="0"/>
            <a:r>
              <a:rPr lang="en-SG" dirty="0"/>
              <a:t>This is an emergency issue</a:t>
            </a:r>
            <a:endParaRPr lang="en-US" dirty="0"/>
          </a:p>
          <a:p>
            <a:pPr lvl="0"/>
            <a:r>
              <a:rPr lang="en-SG" dirty="0"/>
              <a:t>Contact with immediate boss is a must</a:t>
            </a:r>
            <a:endParaRPr lang="en-US" dirty="0"/>
          </a:p>
          <a:p>
            <a:pPr lvl="0"/>
            <a:r>
              <a:rPr lang="en-SG" dirty="0">
                <a:solidFill>
                  <a:schemeClr val="tx1"/>
                </a:solidFill>
              </a:rPr>
              <a:t>Don’t decide by yourself </a:t>
            </a:r>
            <a:endParaRPr lang="en-US" dirty="0">
              <a:solidFill>
                <a:schemeClr val="tx1"/>
              </a:solidFill>
            </a:endParaRPr>
          </a:p>
          <a:p>
            <a:pPr lvl="0"/>
            <a:r>
              <a:rPr lang="en-SG" dirty="0"/>
              <a:t>Think about alternative solution</a:t>
            </a:r>
            <a:endParaRPr lang="en-US" dirty="0"/>
          </a:p>
          <a:p>
            <a:pPr lvl="0"/>
            <a:r>
              <a:rPr lang="en-SG" dirty="0"/>
              <a:t>Arrange a meeting</a:t>
            </a:r>
            <a:endParaRPr lang="en-US" dirty="0"/>
          </a:p>
          <a:p>
            <a:pPr lvl="0"/>
            <a:r>
              <a:rPr lang="en-SG" dirty="0"/>
              <a:t>Take additional time from the client</a:t>
            </a:r>
            <a:endParaRPr lang="en-US" dirty="0"/>
          </a:p>
          <a:p>
            <a:pPr marL="0" indent="0">
              <a:buNone/>
            </a:pPr>
            <a:endParaRPr lang="en-US" dirty="0"/>
          </a:p>
        </p:txBody>
      </p:sp>
    </p:spTree>
    <p:extLst>
      <p:ext uri="{BB962C8B-B14F-4D97-AF65-F5344CB8AC3E}">
        <p14:creationId xmlns:p14="http://schemas.microsoft.com/office/powerpoint/2010/main" val="38513871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Test </a:t>
            </a:r>
            <a:endParaRPr lang="en-US" dirty="0"/>
          </a:p>
        </p:txBody>
      </p:sp>
      <p:sp>
        <p:nvSpPr>
          <p:cNvPr id="3" name="Content Placeholder 2"/>
          <p:cNvSpPr>
            <a:spLocks noGrp="1"/>
          </p:cNvSpPr>
          <p:nvPr>
            <p:ph idx="1"/>
          </p:nvPr>
        </p:nvSpPr>
        <p:spPr/>
        <p:txBody>
          <a:bodyPr>
            <a:normAutofit/>
          </a:bodyPr>
          <a:lstStyle/>
          <a:p>
            <a:pPr marL="0" indent="0">
              <a:buNone/>
            </a:pPr>
            <a:r>
              <a:rPr lang="en-US" sz="4800" dirty="0" smtClean="0"/>
              <a:t>Try to solve the case using your own idea about corporate governance. </a:t>
            </a:r>
            <a:endParaRPr lang="en-US" sz="4800" dirty="0"/>
          </a:p>
        </p:txBody>
      </p:sp>
    </p:spTree>
    <p:extLst>
      <p:ext uri="{BB962C8B-B14F-4D97-AF65-F5344CB8AC3E}">
        <p14:creationId xmlns:p14="http://schemas.microsoft.com/office/powerpoint/2010/main" val="2580027859"/>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323</TotalTime>
  <Words>425</Words>
  <Application>Microsoft Office PowerPoint</Application>
  <PresentationFormat>Widescreen</PresentationFormat>
  <Paragraphs>22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Trebuchet MS</vt:lpstr>
      <vt:lpstr>Wingdings 3</vt:lpstr>
      <vt:lpstr>Facet</vt:lpstr>
      <vt:lpstr>Case Study</vt:lpstr>
      <vt:lpstr>Case study</vt:lpstr>
      <vt:lpstr>Case study</vt:lpstr>
      <vt:lpstr>Case study</vt:lpstr>
      <vt:lpstr>What should Dylan do? </vt:lpstr>
      <vt:lpstr>Class Test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dc:title>
  <dc:creator>Windows User</dc:creator>
  <cp:lastModifiedBy>Windows User</cp:lastModifiedBy>
  <cp:revision>7</cp:revision>
  <dcterms:created xsi:type="dcterms:W3CDTF">2021-01-29T12:30:08Z</dcterms:created>
  <dcterms:modified xsi:type="dcterms:W3CDTF">2021-06-25T12:02:20Z</dcterms:modified>
</cp:coreProperties>
</file>